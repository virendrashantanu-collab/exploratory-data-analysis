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</p:sldIdLst>
  <p:sldSz cx="9144000" cy="5143500" type="screen16x9"/>
  <p:notesSz cx="6858000" cy="9144000"/>
  <p:embeddedFontLst>
    <p:embeddedFont>
      <p:font typeface="Alfa Slab One" pitchFamily="2" charset="77"/>
      <p:regular r:id="rId16"/>
    </p:embeddedFont>
    <p:embeddedFont>
      <p:font typeface="Proxima Nova" panose="02000506030000020004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2"/>
    <p:restoredTop sz="86471"/>
  </p:normalViewPr>
  <p:slideViewPr>
    <p:cSldViewPr snapToGrid="0">
      <p:cViewPr varScale="1">
        <p:scale>
          <a:sx n="135" d="100"/>
          <a:sy n="135" d="100"/>
        </p:scale>
        <p:origin x="57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Introduce myself and the topic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584294140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b584294140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Mention why I chose the dataset and where it originates from.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Explain the main datasets in more detail- mention some of the variables/columns and it structure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Explain why I decided to use a separate supplementary dataset 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58429414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" name="Google Shape;66;g3b58429414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Describe what measles and rubella is and their dangers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Describe the recent news articles (screenshots) indicating a rise in cases in the United States and why cases should be monitored 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the rarity of rubella cases compared to measles</a:t>
            </a:r>
          </a:p>
          <a:p>
            <a:r>
              <a:rPr lang="en-US" dirty="0"/>
              <a:t>Describe how measles cases fluctuate and the peaks in 2019 and 2024</a:t>
            </a:r>
          </a:p>
          <a:p>
            <a:r>
              <a:rPr lang="en-US" dirty="0"/>
              <a:t>Explain possible reasons for the peaks- vaccine hesitancy in some countries, disruption in immunization programs due to covid, wars and political factors</a:t>
            </a:r>
          </a:p>
        </p:txBody>
      </p:sp>
    </p:spTree>
    <p:extLst>
      <p:ext uri="{BB962C8B-B14F-4D97-AF65-F5344CB8AC3E}">
        <p14:creationId xmlns:p14="http://schemas.microsoft.com/office/powerpoint/2010/main" val="2943885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this graph is similar to the previous graph but helps understand the distribution of cases each year based on regions</a:t>
            </a:r>
          </a:p>
          <a:p>
            <a:r>
              <a:rPr lang="en-US" dirty="0"/>
              <a:t>Describe how we can use the graph to identify why/ which region caused the spikes in 2019 and 2024</a:t>
            </a:r>
          </a:p>
          <a:p>
            <a:r>
              <a:rPr lang="en-US" dirty="0"/>
              <a:t>Describe how the graph (2023 and 2024 peak) findings corroborate with the screenshot  </a:t>
            </a:r>
          </a:p>
        </p:txBody>
      </p:sp>
    </p:spTree>
    <p:extLst>
      <p:ext uri="{BB962C8B-B14F-4D97-AF65-F5344CB8AC3E}">
        <p14:creationId xmlns:p14="http://schemas.microsoft.com/office/powerpoint/2010/main" val="2051596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the plot helps identify the countries or regions where the number of measles cases recorded are high</a:t>
            </a:r>
          </a:p>
          <a:p>
            <a:r>
              <a:rPr lang="en-US" dirty="0"/>
              <a:t>Describe how the plot helps to easily visualize measles cases in all countries in the dataset. Otherwise, it's difficult to include all countries in a single plot such as a bar plot</a:t>
            </a:r>
          </a:p>
        </p:txBody>
      </p:sp>
    </p:spTree>
    <p:extLst>
      <p:ext uri="{BB962C8B-B14F-4D97-AF65-F5344CB8AC3E}">
        <p14:creationId xmlns:p14="http://schemas.microsoft.com/office/powerpoint/2010/main" val="3556212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what measles incidence rate is and how its calculated </a:t>
            </a:r>
          </a:p>
          <a:p>
            <a:r>
              <a:rPr lang="en-US" dirty="0"/>
              <a:t>Explain that the graph could indicate large measles outbreaks in Kyrgyzstan, Azerbaijan, Romania and Kazakhstan in 2024</a:t>
            </a:r>
          </a:p>
        </p:txBody>
      </p:sp>
    </p:spTree>
    <p:extLst>
      <p:ext uri="{BB962C8B-B14F-4D97-AF65-F5344CB8AC3E}">
        <p14:creationId xmlns:p14="http://schemas.microsoft.com/office/powerpoint/2010/main" val="525745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the main method used for measles diagnosis varies in each region</a:t>
            </a:r>
          </a:p>
          <a:p>
            <a:r>
              <a:rPr lang="en-US" dirty="0"/>
              <a:t>Describe how the main diagnosis method used could indicate laboratory capacity and health care infrastructure of the region</a:t>
            </a:r>
          </a:p>
        </p:txBody>
      </p:sp>
    </p:spTree>
    <p:extLst>
      <p:ext uri="{BB962C8B-B14F-4D97-AF65-F5344CB8AC3E}">
        <p14:creationId xmlns:p14="http://schemas.microsoft.com/office/powerpoint/2010/main" val="912368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this graph helps identify seasonal variation in measles cases by region</a:t>
            </a:r>
          </a:p>
          <a:p>
            <a:r>
              <a:rPr lang="en-US" dirty="0"/>
              <a:t>Cases in general peak around March, are lowest between July-August and likely start to rise again from November </a:t>
            </a:r>
          </a:p>
        </p:txBody>
      </p:sp>
    </p:spTree>
    <p:extLst>
      <p:ext uri="{BB962C8B-B14F-4D97-AF65-F5344CB8AC3E}">
        <p14:creationId xmlns:p14="http://schemas.microsoft.com/office/powerpoint/2010/main" val="2984466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the graph helps depict vaccine coverage over time as well as the relationship between vaccine coverage and measles incidence rate</a:t>
            </a:r>
          </a:p>
        </p:txBody>
      </p:sp>
    </p:spTree>
    <p:extLst>
      <p:ext uri="{BB962C8B-B14F-4D97-AF65-F5344CB8AC3E}">
        <p14:creationId xmlns:p14="http://schemas.microsoft.com/office/powerpoint/2010/main" val="3615247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grouping the data effectively was a challenge when creating particular figures</a:t>
            </a:r>
          </a:p>
          <a:p>
            <a:r>
              <a:rPr lang="en-US" dirty="0"/>
              <a:t>Describe how different plots required the data to be formatted differently (either long or short formatting)</a:t>
            </a:r>
          </a:p>
          <a:p>
            <a:r>
              <a:rPr lang="en-US" dirty="0"/>
              <a:t>Explain the example in detail</a:t>
            </a:r>
          </a:p>
        </p:txBody>
      </p:sp>
    </p:spTree>
    <p:extLst>
      <p:ext uri="{BB962C8B-B14F-4D97-AF65-F5344CB8AC3E}">
        <p14:creationId xmlns:p14="http://schemas.microsoft.com/office/powerpoint/2010/main" val="512247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mmunizationdata.who.int/global/wiise-detail-page/measles-vaccination-coverage?GROUP=WHO_REGIONS&amp;ANTIGEN=MCV2&amp;YEAR=&amp;CODE=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en.wikipedia.org/wiki/File:Who_logo.svg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publications/national-measles-guidelines/measles-factsheet" TargetMode="External"/><Relationship Id="rId2" Type="http://schemas.openxmlformats.org/officeDocument/2006/relationships/hyperlink" Target="https://www.who.int/news-room/fact-sheets/detail/measles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706042"/>
            <a:ext cx="8520600" cy="19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  <a:cs typeface="Adelle Sans Devanagari" panose="02000503000000020004" pitchFamily="2" charset="-78"/>
              </a:rPr>
              <a:t>Global Measles and Rubella Cases</a:t>
            </a:r>
            <a:endParaRPr dirty="0">
              <a:latin typeface="+mj-lt"/>
              <a:cs typeface="Adelle Sans Devanagari" panose="02000503000000020004" pitchFamily="2" charset="-78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Programming for Data Science Assessment </a:t>
            </a:r>
            <a:endParaRPr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A73F46-9576-38CB-6F46-83131DC98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3963325"/>
            <a:ext cx="2540000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699" y="20297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</a:rPr>
              <a:t>Dataset</a:t>
            </a:r>
            <a:endParaRPr dirty="0">
              <a:latin typeface="+mj-lt"/>
            </a:endParaRPr>
          </a:p>
        </p:txBody>
      </p:sp>
      <p:sp>
        <p:nvSpPr>
          <p:cNvPr id="5" name="Google Shape;69;p15">
            <a:extLst>
              <a:ext uri="{FF2B5EF4-FFF2-40B4-BE49-F238E27FC236}">
                <a16:creationId xmlns:a16="http://schemas.microsoft.com/office/drawing/2014/main" id="{5EA77F76-FA3B-A704-D4B4-75050E0F9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499" y="883254"/>
            <a:ext cx="7223138" cy="4164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Dataset downloaded from tidytuesday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Originally from the World Health Organisation (WHO) provisional data on measles and rubella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Two main datasets used 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Dataset 1</a:t>
            </a:r>
          </a:p>
          <a:p>
            <a:pPr marL="1200150" lvl="2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Included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data</a:t>
            </a: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by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country, WHO regions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year (2012-2025)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Dataset 2</a:t>
            </a:r>
          </a:p>
          <a:p>
            <a:pPr marL="1200150" lvl="2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Included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data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by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country, </a:t>
            </a:r>
            <a:r>
              <a:rPr lang="en-GB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WHO regions</a:t>
            </a:r>
            <a:r>
              <a:rPr lang="en-GB" dirty="0">
                <a:solidFill>
                  <a:schemeClr val="accent3"/>
                </a:solidFill>
                <a:latin typeface="+mn-lt"/>
              </a:rPr>
              <a:t>,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year</a:t>
            </a:r>
            <a:r>
              <a:rPr lang="en-GB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en-GB" b="1" dirty="0">
                <a:solidFill>
                  <a:schemeClr val="accent3"/>
                </a:solidFill>
              </a:rPr>
              <a:t>(2012-2025) </a:t>
            </a:r>
            <a:r>
              <a:rPr lang="en-GB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month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Supplementary dataset 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3"/>
                </a:solidFill>
                <a:latin typeface="+mn-lt"/>
              </a:rPr>
              <a:t>Measles vaccination coverage (%)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 each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 WHO region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between</a:t>
            </a: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2012-2024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Obtained from WHO website:</a:t>
            </a:r>
          </a:p>
          <a:p>
            <a:pPr marL="1200150" lvl="2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+mn-lt"/>
                <a:hlinkClick r:id="rId3"/>
              </a:rPr>
              <a:t>https://immunizationdata.who.int/global/wiise-detail-page/measles-vaccination-coverage?GROUP=WHO_REGIONS&amp;ANTIGEN=MCV2&amp;YEAR=&amp;CODE=</a:t>
            </a:r>
            <a:r>
              <a:rPr lang="en-GB" sz="12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62D1DC-BCDA-AD48-AFD4-E7F742284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659" y="695421"/>
            <a:ext cx="1828800" cy="176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955C3E-650A-55CF-4153-2B9F895C95C0}"/>
              </a:ext>
            </a:extLst>
          </p:cNvPr>
          <p:cNvSpPr txBox="1"/>
          <p:nvPr/>
        </p:nvSpPr>
        <p:spPr>
          <a:xfrm>
            <a:off x="6987988" y="2364001"/>
            <a:ext cx="2250141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>
                <a:hlinkClick r:id="rId5"/>
              </a:rPr>
              <a:t>https://en.wikipedia.org/wiki/File:Who_logo.svg</a:t>
            </a:r>
            <a:r>
              <a:rPr lang="en-US" sz="750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+mj-lt"/>
              </a:rPr>
              <a:t>What is measles and rubella?</a:t>
            </a:r>
            <a:endParaRPr dirty="0">
              <a:latin typeface="+mj-lt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084729"/>
            <a:ext cx="852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Both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are </a:t>
            </a: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highly contagious viruses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3"/>
                </a:solidFill>
                <a:latin typeface="+mn-lt"/>
              </a:rPr>
              <a:t>Airborne (coughs and sneezes)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Rubella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3"/>
                </a:solidFill>
                <a:latin typeface="+mn-lt"/>
              </a:rPr>
              <a:t>Rare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and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mild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disease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Can cause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miscarriage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and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development of foetus</a:t>
            </a: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Measles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3"/>
                </a:solidFill>
                <a:latin typeface="+mn-lt"/>
              </a:rPr>
              <a:t>Dangerous disease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- brain damage, pneumonia, blindness 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Caused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 95,000 deaths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globally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 2024 </a:t>
            </a: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(WHO, 2025)</a:t>
            </a: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3"/>
                </a:solidFill>
                <a:latin typeface="+mn-lt"/>
              </a:rPr>
              <a:t>1 in 15 </a:t>
            </a:r>
            <a:r>
              <a:rPr lang="en-GB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become </a:t>
            </a:r>
            <a:r>
              <a:rPr lang="en-GB" b="1" dirty="0">
                <a:solidFill>
                  <a:schemeClr val="accent3"/>
                </a:solidFill>
                <a:latin typeface="+mn-lt"/>
              </a:rPr>
              <a:t>seriously unwell </a:t>
            </a: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(GOV UK, 2024)</a:t>
            </a:r>
            <a:endParaRPr lang="en-GB" b="1" dirty="0">
              <a:solidFill>
                <a:schemeClr val="accent3"/>
              </a:solidFill>
              <a:latin typeface="+mn-lt"/>
            </a:endParaRPr>
          </a:p>
          <a:p>
            <a:pPr marL="285750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Vaccination is the only prevention</a:t>
            </a:r>
            <a:endParaRPr lang="en-GB" b="1" dirty="0">
              <a:solidFill>
                <a:schemeClr val="accent3"/>
              </a:solidFill>
              <a:latin typeface="+mn-lt"/>
            </a:endParaRPr>
          </a:p>
          <a:p>
            <a:pPr marL="742950" lvl="1" indent="-285750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40D98-18C5-3062-1131-F43FF945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54" y="2123944"/>
            <a:ext cx="2996276" cy="15640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78C21E-5D87-5027-32CE-94E3B9F12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101" y="605782"/>
            <a:ext cx="3675529" cy="11965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A67FB-A0BD-B283-261F-ADF1ABB5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956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Global measles and rubella cases between 2012-2025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840DE-73B2-1E94-B39D-62BC1BC6B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3" y="1183341"/>
            <a:ext cx="6310137" cy="3385439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81D13B8-DFF7-3F44-909A-3BAA886A4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565" y="1183341"/>
            <a:ext cx="3191435" cy="367230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Rubella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cases are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low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  <a:latin typeface="+mn-lt"/>
              </a:rPr>
              <a:t>Less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than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100,000 cases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per year</a:t>
            </a:r>
          </a:p>
          <a:p>
            <a:pPr marL="596900" lvl="1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Measles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cases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fluctuate considerably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  <a:latin typeface="+mn-lt"/>
              </a:rPr>
              <a:t>Sharp rise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</a:t>
            </a: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2019</a:t>
            </a: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2024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Reasons- pandemic, vaccine hesitancy, political factors  </a:t>
            </a:r>
          </a:p>
          <a:p>
            <a:pPr marL="139700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112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5B30-A273-687C-6452-7C81B8E0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3393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Suspected measles and rubella cases by region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26C3E-F4A6-F402-305C-FA628D76C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51" y="1050680"/>
            <a:ext cx="4779280" cy="35358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E2421-C653-745D-09A7-0C36F2004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9262" y="974222"/>
            <a:ext cx="4091248" cy="290204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Africa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,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South-East Asia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Western Pacific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major contributors </a:t>
            </a:r>
          </a:p>
          <a:p>
            <a:pPr marL="114300" indent="0">
              <a:buNone/>
            </a:pPr>
            <a:endParaRPr lang="en-US" sz="1600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2019 peak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  <a:latin typeface="+mn-lt"/>
              </a:rPr>
              <a:t>Dominated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by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Africa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Cases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 Americas peaked</a:t>
            </a:r>
          </a:p>
          <a:p>
            <a:pPr marL="596900" lvl="1" indent="0">
              <a:buNone/>
            </a:pPr>
            <a:endParaRPr lang="en-US" b="1" dirty="0">
              <a:solidFill>
                <a:schemeClr val="accent3"/>
              </a:solidFill>
              <a:latin typeface="+mn-lt"/>
            </a:endParaRP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2023 and 2024 peak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Sharp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rise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in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Europe</a:t>
            </a: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</a:t>
            </a: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Easter Mediterranean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3"/>
              </a:solidFill>
              <a:latin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596900" lvl="1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E0E98-E394-0D8B-7D2A-8B044177E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365" y="3876262"/>
            <a:ext cx="3480531" cy="102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49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F403-6998-8609-2D4B-1CC9552E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081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Average measles cases by country (2012-2025)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5CAE0-F15D-F8B1-456A-2E7540F07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1879"/>
            <a:ext cx="6049910" cy="285974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638BD-9DC5-41A0-DF9B-FC1394998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8448" y="1199029"/>
            <a:ext cx="3415552" cy="3307310"/>
          </a:xfrm>
        </p:spPr>
        <p:txBody>
          <a:bodyPr>
            <a:normAutofit/>
          </a:bodyPr>
          <a:lstStyle/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Highest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number of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cases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India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China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Due to population size</a:t>
            </a:r>
          </a:p>
          <a:p>
            <a:pPr marL="596900" lvl="1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South-East Asian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African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countries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have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highest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number of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cases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on average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596900" lvl="1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199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97AC-86FC-DB08-13DD-32F7603F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9567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Countries with the highest measles incidence rates in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24657-ECC9-A412-8B0E-F15D94DDA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372268"/>
            <a:ext cx="5357710" cy="340850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C751-BBF1-DE94-DCE5-E05BCEA55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4228" y="1372268"/>
            <a:ext cx="3286829" cy="3190768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endParaRPr lang="en-US" sz="16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3"/>
              </a:solidFill>
              <a:latin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596900" lvl="1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877BCC-1C3B-F076-111B-D3B72BF15AFE}"/>
              </a:ext>
            </a:extLst>
          </p:cNvPr>
          <p:cNvSpPr txBox="1">
            <a:spLocks/>
          </p:cNvSpPr>
          <p:nvPr/>
        </p:nvSpPr>
        <p:spPr>
          <a:xfrm>
            <a:off x="5728448" y="1199029"/>
            <a:ext cx="3415552" cy="330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High incidence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rates in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Middle Eastern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Eastern European countries </a:t>
            </a:r>
          </a:p>
          <a:p>
            <a:pPr marL="139700" indent="0">
              <a:buNone/>
            </a:pPr>
            <a:endParaRPr lang="en-US" sz="1600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596900" lvl="1" indent="0">
              <a:buFont typeface="Proxima Nova"/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5780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38AD-4E26-749D-C21B-8CF9D90D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Identifying the main diagnosis method for measles in each region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6C2BC-43D1-79D8-9CAA-0BC0E1A8D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307506"/>
            <a:ext cx="4761488" cy="367218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83E8E-5701-72DB-9A6D-6D37793E19A3}"/>
              </a:ext>
            </a:extLst>
          </p:cNvPr>
          <p:cNvSpPr txBox="1">
            <a:spLocks/>
          </p:cNvSpPr>
          <p:nvPr/>
        </p:nvSpPr>
        <p:spPr>
          <a:xfrm>
            <a:off x="5073188" y="1216958"/>
            <a:ext cx="4070812" cy="367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Africa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Cases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mainly diagnosed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by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EPI linkage</a:t>
            </a:r>
            <a:r>
              <a:rPr lang="en-US" sz="1200" b="1" dirty="0">
                <a:solidFill>
                  <a:schemeClr val="accent3"/>
                </a:solidFill>
                <a:latin typeface="+mn-lt"/>
              </a:rPr>
              <a:t> </a:t>
            </a:r>
          </a:p>
          <a:p>
            <a:pPr marL="596900" lvl="1" indent="0">
              <a:buNone/>
            </a:pPr>
            <a:endParaRPr lang="en-US" sz="1200" b="1" dirty="0">
              <a:solidFill>
                <a:schemeClr val="accent3"/>
              </a:solidFill>
              <a:latin typeface="+mn-lt"/>
            </a:endParaRP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Americas, Europe and Western Pacific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Predominantly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 Lab confirmed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cases</a:t>
            </a:r>
          </a:p>
          <a:p>
            <a:pPr marL="596900" lvl="1" indent="0"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South East Asia and Eastern Mediterranean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Predominantly</a:t>
            </a:r>
            <a:r>
              <a:rPr lang="en-US" b="1" dirty="0">
                <a:solidFill>
                  <a:schemeClr val="accent3"/>
                </a:solidFill>
              </a:rPr>
              <a:t> Clinically confirmed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cases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596900" lvl="1" indent="0">
              <a:buFont typeface="Proxima Nova"/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502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D104-C577-ECAB-F785-C1412512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Seasonal variation in measles cases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25799-A96A-36B2-6281-24C8D07AE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72" y="1232034"/>
            <a:ext cx="5778041" cy="319114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B817F-AD8B-99B9-1724-AA701FE5FC2F}"/>
              </a:ext>
            </a:extLst>
          </p:cNvPr>
          <p:cNvSpPr txBox="1">
            <a:spLocks/>
          </p:cNvSpPr>
          <p:nvPr/>
        </p:nvSpPr>
        <p:spPr>
          <a:xfrm>
            <a:off x="5890661" y="1006524"/>
            <a:ext cx="3176337" cy="330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Cases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appear to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peak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around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March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 most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regions</a:t>
            </a:r>
          </a:p>
          <a:p>
            <a:pPr marL="139700" indent="0">
              <a:buNone/>
            </a:pPr>
            <a:endParaRPr lang="en-US" sz="16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Cases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are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lowest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around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July-August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Cases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South-East Asia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and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Europe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start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rising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between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October-November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596900" lvl="1" indent="0">
              <a:buFont typeface="Proxima Nova"/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1436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F9BC7-EC51-C9BD-C260-D9CF2606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88" y="28591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Relationship between measles incidence rate and vaccination coverage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D31BB-27B0-0DA0-27DE-37A0C755E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26" y="1228440"/>
            <a:ext cx="4571278" cy="391506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6867D-BC0B-D401-18B6-594FE649F0E1}"/>
              </a:ext>
            </a:extLst>
          </p:cNvPr>
          <p:cNvSpPr txBox="1">
            <a:spLocks/>
          </p:cNvSpPr>
          <p:nvPr/>
        </p:nvSpPr>
        <p:spPr>
          <a:xfrm>
            <a:off x="5418713" y="1295224"/>
            <a:ext cx="3546383" cy="330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Darker spots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cluster around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80% 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Indicates</a:t>
            </a: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vaccine coverage</a:t>
            </a:r>
            <a:r>
              <a:rPr lang="en-US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has generally 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increased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over</a:t>
            </a:r>
            <a:r>
              <a:rPr lang="en-US" b="1" dirty="0">
                <a:solidFill>
                  <a:schemeClr val="accent3"/>
                </a:solidFill>
                <a:latin typeface="+mn-lt"/>
              </a:rPr>
              <a:t> time </a:t>
            </a:r>
            <a:endParaRPr lang="en-US" sz="16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4254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Higher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the 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vaccine coverage,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the</a:t>
            </a:r>
            <a:r>
              <a:rPr lang="en-US" sz="1600" b="1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lower incidence rate </a:t>
            </a:r>
            <a:r>
              <a:rPr lang="en-US" sz="1600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in general 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Not very clear but still visible </a:t>
            </a: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Lots of outliers 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 marL="596900" lvl="1" indent="0">
              <a:buFont typeface="Proxima Nova"/>
              <a:buNone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6833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771B-A22C-D128-AC64-ECAF08E6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Challenges with the code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0085A-AD9C-556D-9AB0-D75F82895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86023"/>
            <a:ext cx="8520600" cy="109997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Understanding and correctly using the group or pivot table function based on the need for the graph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Identifying which format (long or short) to store the dataframe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0A681-92EE-95F6-479E-DE402AEE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67" y="2730781"/>
            <a:ext cx="7772400" cy="6317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81E8E2-7765-CCE0-2050-1DA77A8F98B9}"/>
              </a:ext>
            </a:extLst>
          </p:cNvPr>
          <p:cNvSpPr txBox="1"/>
          <p:nvPr/>
        </p:nvSpPr>
        <p:spPr>
          <a:xfrm>
            <a:off x="576468" y="3446649"/>
            <a:ext cx="77723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above code with grouping would calculate mean for each region by dividing over the sum of all countries in the region and its corresponding year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I wanted the mean measles cases in each region by year only (cases/year) , the above code would not be effective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CECC9-975C-E147-F673-7FBB689809FB}"/>
              </a:ext>
            </a:extLst>
          </p:cNvPr>
          <p:cNvSpPr txBox="1"/>
          <p:nvPr/>
        </p:nvSpPr>
        <p:spPr>
          <a:xfrm>
            <a:off x="576467" y="2454298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463526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5269-3F4A-3091-D826-8B3062C8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References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BC362-26C5-5C1A-2D07-553648F66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</p:spPr>
        <p:txBody>
          <a:bodyPr/>
          <a:lstStyle/>
          <a:p>
            <a:pPr>
              <a:buAutoNum type="arabicPeriod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WHO (2025). Measles Factsheet. Retrieved from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  <a:hlinkClick r:id="rId2"/>
              </a:rPr>
              <a:t>https://www.who.int/news-room/fact-sheets/detail/measles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</a:p>
          <a:p>
            <a:pPr>
              <a:buAutoNum type="arabicPeriod"/>
            </a:pPr>
            <a:endParaRPr lang="en-US" dirty="0">
              <a:solidFill>
                <a:schemeClr val="tx2">
                  <a:lumMod val="10000"/>
                </a:schemeClr>
              </a:solidFill>
              <a:latin typeface="+mn-lt"/>
            </a:endParaRPr>
          </a:p>
          <a:p>
            <a:pPr>
              <a:buAutoNum type="arabicPeriod"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UK GOV (2024). Measles Factsheet. Retrieved from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  <a:hlinkClick r:id="rId3"/>
              </a:rPr>
              <a:t>https://www.gov.uk/government/publications/national-measles-guidelines/measles-factsheet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863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62FB-8F4F-B4E1-A142-FA54740A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526350"/>
            <a:ext cx="7987828" cy="4090800"/>
          </a:xfrm>
        </p:spPr>
        <p:txBody>
          <a:bodyPr/>
          <a:lstStyle/>
          <a:p>
            <a:pPr algn="ctr"/>
            <a:r>
              <a:rPr lang="en-US" dirty="0">
                <a:latin typeface="+mn-lt"/>
              </a:rPr>
              <a:t>Thank you for listening </a:t>
            </a:r>
          </a:p>
        </p:txBody>
      </p:sp>
    </p:spTree>
    <p:extLst>
      <p:ext uri="{BB962C8B-B14F-4D97-AF65-F5344CB8AC3E}">
        <p14:creationId xmlns:p14="http://schemas.microsoft.com/office/powerpoint/2010/main" val="2777244437"/>
      </p:ext>
    </p:extLst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949</Words>
  <Application>Microsoft Macintosh PowerPoint</Application>
  <PresentationFormat>On-screen Show (16:9)</PresentationFormat>
  <Paragraphs>113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Alfa Slab One</vt:lpstr>
      <vt:lpstr>Arial</vt:lpstr>
      <vt:lpstr>Proxima Nova</vt:lpstr>
      <vt:lpstr>Gameday</vt:lpstr>
      <vt:lpstr>Global Measles and Rubella Cases</vt:lpstr>
      <vt:lpstr>Dataset</vt:lpstr>
      <vt:lpstr>What is measles and rubella?</vt:lpstr>
      <vt:lpstr>Global measles and rubella cases between 2012-2025</vt:lpstr>
      <vt:lpstr>Suspected measles and rubella cases by region</vt:lpstr>
      <vt:lpstr>Average measles cases by country (2012-2025)</vt:lpstr>
      <vt:lpstr>Countries with the highest measles incidence rates in 2024</vt:lpstr>
      <vt:lpstr>Identifying the main diagnosis method for measles in each region</vt:lpstr>
      <vt:lpstr>Seasonal variation in measles cases </vt:lpstr>
      <vt:lpstr>Relationship between measles incidence rate and vaccination coverage </vt:lpstr>
      <vt:lpstr>Challenges with the code </vt:lpstr>
      <vt:lpstr>References </vt:lpstr>
      <vt:lpstr>Thank you for listening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Doddamane Virendra, Shantanu</cp:lastModifiedBy>
  <cp:revision>9</cp:revision>
  <dcterms:modified xsi:type="dcterms:W3CDTF">2026-01-13T11:43:51Z</dcterms:modified>
</cp:coreProperties>
</file>